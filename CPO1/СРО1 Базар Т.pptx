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</p:sldIdLst>
  <p:sldSz cx="12192000" cy="6858000"/>
  <p:notesSz cx="6858000" cy="12192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Geologica" panose="020B0604020202020204" charset="0"/>
      <p:regular r:id="rId18"/>
    </p:embeddedFont>
    <p:embeddedFont>
      <p:font typeface="Geologica Bold" panose="020B0604020202020204" charset="0"/>
      <p:regular r:id="rId19"/>
    </p:embeddedFont>
    <p:embeddedFont>
      <p:font typeface="Geologica SemiBold" panose="020B0604020202020204" charset="0"/>
      <p:regular r:id="rId20"/>
    </p:embeddedFont>
    <p:embeddedFont>
      <p:font typeface="Unbounded ExtraBold" panose="020B0604020202020204" charset="-52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B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3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3659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6403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5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783" y="2117404"/>
            <a:ext cx="7315017" cy="1158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ru-RU" sz="4000" kern="100" spc="240" dirty="0">
                <a:solidFill>
                  <a:srgbClr val="141414"/>
                </a:solidFill>
                <a:latin typeface="Unbounded ExtraBold" pitchFamily="34" charset="0"/>
                <a:ea typeface="Unbounded ExtraBold" pitchFamily="34" charset="-122"/>
                <a:cs typeface="Unbounded ExtraBold" pitchFamily="34" charset="-120"/>
              </a:rPr>
              <a:t>СРО№1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58786" y="2811760"/>
            <a:ext cx="7315017" cy="1478161"/>
          </a:xfrm>
          <a:prstGeom prst="roundRect">
            <a:avLst>
              <a:gd name="adj" fmla="val 20620"/>
            </a:avLst>
          </a:prstGeom>
          <a:solidFill>
            <a:srgbClr val="FFFBF2"/>
          </a:solidFill>
          <a:ln w="38099">
            <a:solidFill>
              <a:srgbClr val="141414"/>
            </a:solidFill>
            <a:prstDash val="solid"/>
          </a:ln>
          <a:effectLst>
            <a:outerShdw blurRad="127" dist="88900" dir="2700000" algn="bl" rotWithShape="0">
              <a:srgbClr val="141414">
                <a:alpha val="10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01677" y="3160375"/>
            <a:ext cx="6629234" cy="792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Geologica Bold" pitchFamily="34" charset="0"/>
                <a:ea typeface="Geologica Bold" pitchFamily="34" charset="-122"/>
                <a:cs typeface="Geologica Bold" pitchFamily="34" charset="-120"/>
              </a:rPr>
              <a:t>Мини-проект №16: «Каталог мероприятий университета»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58786" y="4526459"/>
            <a:ext cx="7315017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ru-RU" sz="2000" dirty="0">
                <a:solidFill>
                  <a:srgbClr val="141414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БАЗАР Т</a:t>
            </a:r>
            <a:r>
              <a:rPr lang="kk-KZ" sz="2000" dirty="0">
                <a:solidFill>
                  <a:srgbClr val="141414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ІЛЕУХАН ИС26-21 ТИПО</a:t>
            </a:r>
            <a:endParaRPr lang="en-US" sz="2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7797" y="1600200"/>
            <a:ext cx="3657509" cy="3657600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626DE4C-BCA2-4CE8-BC8B-35C9CF5F09BB}"/>
              </a:ext>
            </a:extLst>
          </p:cNvPr>
          <p:cNvSpPr/>
          <p:nvPr/>
        </p:nvSpPr>
        <p:spPr>
          <a:xfrm>
            <a:off x="10964411" y="6509857"/>
            <a:ext cx="1227589" cy="348143"/>
          </a:xfrm>
          <a:prstGeom prst="rect">
            <a:avLst/>
          </a:prstGeom>
          <a:solidFill>
            <a:srgbClr val="FF5B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525145"/>
            <a:ext cx="11175720" cy="434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000" kern="100" spc="180" dirty="0">
                <a:solidFill>
                  <a:srgbClr val="141414"/>
                </a:solidFill>
                <a:latin typeface="Unbounded ExtraBold" pitchFamily="34" charset="0"/>
                <a:ea typeface="Unbounded ExtraBold" pitchFamily="34" charset="-122"/>
                <a:cs typeface="Unbounded ExtraBold" pitchFamily="34" charset="-120"/>
              </a:rPr>
              <a:t>ИСПОЛЬЗУЕМЫЕ ТЕХНОЛОГИИ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7987" y="1204218"/>
            <a:ext cx="1168370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141414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Для разработки приложения использованы три технологии: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7987" y="2447627"/>
            <a:ext cx="3521979" cy="2651125"/>
          </a:xfrm>
          <a:prstGeom prst="roundRect">
            <a:avLst>
              <a:gd name="adj" fmla="val 11497"/>
            </a:avLst>
          </a:prstGeom>
          <a:solidFill>
            <a:srgbClr val="FFE03A"/>
          </a:solidFill>
          <a:ln w="38099">
            <a:solidFill>
              <a:srgbClr val="141414"/>
            </a:solidFill>
            <a:prstDash val="solid"/>
          </a:ln>
          <a:effectLst>
            <a:outerShdw blurRad="127" dist="88900" dir="2700000" algn="bl" rotWithShape="0">
              <a:srgbClr val="141414">
                <a:alpha val="1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50879" y="2800052"/>
            <a:ext cx="3179088" cy="495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Geologica Bold" pitchFamily="34" charset="0"/>
                <a:ea typeface="Geologica Bold" pitchFamily="34" charset="-122"/>
                <a:cs typeface="Geologica Bold" pitchFamily="34" charset="-120"/>
              </a:rPr>
              <a:t>HTML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50879" y="3442990"/>
            <a:ext cx="2836196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— создание структуры страницы.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334759" y="2447627"/>
            <a:ext cx="3522078" cy="2651125"/>
          </a:xfrm>
          <a:prstGeom prst="roundRect">
            <a:avLst>
              <a:gd name="adj" fmla="val 11497"/>
            </a:avLst>
          </a:prstGeom>
          <a:solidFill>
            <a:srgbClr val="1FCB9E"/>
          </a:solidFill>
          <a:ln w="38099">
            <a:solidFill>
              <a:srgbClr val="141414"/>
            </a:solidFill>
            <a:prstDash val="solid"/>
          </a:ln>
          <a:effectLst>
            <a:outerShdw blurRad="127" dist="88900" dir="2700000" algn="bl" rotWithShape="0">
              <a:srgbClr val="141414">
                <a:alpha val="10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77650" y="2800052"/>
            <a:ext cx="3179187" cy="495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Geologica Bold" pitchFamily="34" charset="0"/>
                <a:ea typeface="Geologica Bold" pitchFamily="34" charset="-122"/>
                <a:cs typeface="Geologica Bold" pitchFamily="34" charset="-120"/>
              </a:rPr>
              <a:t>CSS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677650" y="3442990"/>
            <a:ext cx="2836295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— оформление интерфейса и карточек мероприятий.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161629" y="2447627"/>
            <a:ext cx="3522078" cy="2651125"/>
          </a:xfrm>
          <a:prstGeom prst="roundRect">
            <a:avLst>
              <a:gd name="adj" fmla="val 11497"/>
            </a:avLst>
          </a:prstGeom>
          <a:solidFill>
            <a:srgbClr val="FF8CC6"/>
          </a:solidFill>
          <a:ln w="38099">
            <a:solidFill>
              <a:srgbClr val="141414"/>
            </a:solidFill>
            <a:prstDash val="solid"/>
          </a:ln>
          <a:effectLst>
            <a:outerShdw blurRad="127" dist="88900" dir="2700000" algn="bl" rotWithShape="0">
              <a:srgbClr val="141414">
                <a:alpha val="10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504521" y="2800052"/>
            <a:ext cx="3179187" cy="495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Geologica Bold" pitchFamily="34" charset="0"/>
                <a:ea typeface="Geologica Bold" pitchFamily="34" charset="-122"/>
                <a:cs typeface="Geologica Bold" pitchFamily="34" charset="-120"/>
              </a:rPr>
              <a:t>JavaScript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504521" y="3442990"/>
            <a:ext cx="283629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— поиск, фильтрация, регистрация и проверка данных.</a:t>
            </a:r>
            <a:endParaRPr lang="en-US" sz="2000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15973222-D4D6-4052-8885-967B9F6CC8E3}"/>
              </a:ext>
            </a:extLst>
          </p:cNvPr>
          <p:cNvSpPr/>
          <p:nvPr/>
        </p:nvSpPr>
        <p:spPr>
          <a:xfrm>
            <a:off x="10964411" y="6509857"/>
            <a:ext cx="1227589" cy="348143"/>
          </a:xfrm>
          <a:prstGeom prst="rect">
            <a:avLst/>
          </a:prstGeom>
          <a:solidFill>
            <a:srgbClr val="FF5B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525145"/>
            <a:ext cx="11175720" cy="434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000" kern="100" spc="180" dirty="0">
                <a:solidFill>
                  <a:srgbClr val="141414"/>
                </a:solidFill>
                <a:latin typeface="Unbounded ExtraBold" pitchFamily="34" charset="0"/>
                <a:ea typeface="Unbounded ExtraBold" pitchFamily="34" charset="-122"/>
                <a:cs typeface="Unbounded ExtraBold" pitchFamily="34" charset="-120"/>
              </a:rPr>
              <a:t>СТРУКТУРА ПРИЛОЖЕНИЯ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7987" y="1880890"/>
            <a:ext cx="6522577" cy="2667000"/>
          </a:xfrm>
          <a:prstGeom prst="roundRect">
            <a:avLst>
              <a:gd name="adj" fmla="val 11428"/>
            </a:avLst>
          </a:prstGeom>
          <a:solidFill>
            <a:srgbClr val="FFFBF2"/>
          </a:solidFill>
          <a:ln w="38099">
            <a:solidFill>
              <a:srgbClr val="141414"/>
            </a:solidFill>
            <a:prstDash val="solid"/>
          </a:ln>
          <a:effectLst>
            <a:outerShdw blurRad="127" dist="88900" dir="2700000" algn="bl" rotWithShape="0">
              <a:srgbClr val="141414">
                <a:alpha val="10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01677" y="2280305"/>
            <a:ext cx="5735196" cy="1584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На странице расположены заголовок, блок поиска и фильтров, каталог мероприятий и форма регистрации.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35257" y="1880890"/>
            <a:ext cx="4348451" cy="2667000"/>
          </a:xfrm>
          <a:prstGeom prst="roundRect">
            <a:avLst>
              <a:gd name="adj" fmla="val 11428"/>
            </a:avLst>
          </a:prstGeom>
          <a:solidFill>
            <a:srgbClr val="FFE03A"/>
          </a:solidFill>
          <a:ln w="38099">
            <a:solidFill>
              <a:srgbClr val="141414"/>
            </a:solidFill>
            <a:prstDash val="solid"/>
          </a:ln>
          <a:effectLst>
            <a:outerShdw blurRad="127" dist="88900" dir="2700000" algn="bl" rotWithShape="0">
              <a:srgbClr val="141414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78149" y="2231727"/>
            <a:ext cx="3662668" cy="198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Для каждого элемента используются HTML-теги. С помощью CSS настраиваются цвета, размеры, отступы и расположение элементов.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07987" y="5486499"/>
            <a:ext cx="11175720" cy="863600"/>
          </a:xfrm>
          <a:prstGeom prst="roundRect">
            <a:avLst>
              <a:gd name="adj" fmla="val 35293"/>
            </a:avLst>
          </a:prstGeom>
          <a:solidFill>
            <a:srgbClr val="1FCB9E"/>
          </a:solidFill>
          <a:ln w="38099">
            <a:solidFill>
              <a:srgbClr val="141414"/>
            </a:solidFill>
            <a:prstDash val="solid"/>
          </a:ln>
          <a:effectLst>
            <a:outerShdw blurRad="127" dist="88900" dir="2700000" algn="bl" rotWithShape="0">
              <a:srgbClr val="141414">
                <a:alpha val="10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50879" y="5761137"/>
            <a:ext cx="10832829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Интерфейс адаптируется к небольшим экранам благодаря медиазапросам CSS.</a:t>
            </a:r>
            <a:endParaRPr lang="en-US" sz="2000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2B3B40BB-D2AF-4464-A3CA-DD405B68A4FC}"/>
              </a:ext>
            </a:extLst>
          </p:cNvPr>
          <p:cNvSpPr/>
          <p:nvPr/>
        </p:nvSpPr>
        <p:spPr>
          <a:xfrm>
            <a:off x="10964411" y="6509857"/>
            <a:ext cx="1227589" cy="348143"/>
          </a:xfrm>
          <a:prstGeom prst="rect">
            <a:avLst/>
          </a:prstGeom>
          <a:solidFill>
            <a:srgbClr val="FF5B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525145"/>
            <a:ext cx="7391215" cy="434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000" kern="100" spc="180" dirty="0">
                <a:solidFill>
                  <a:srgbClr val="141414"/>
                </a:solidFill>
                <a:latin typeface="Unbounded ExtraBold" pitchFamily="34" charset="0"/>
                <a:ea typeface="Unbounded ExtraBold" pitchFamily="34" charset="-122"/>
                <a:cs typeface="Unbounded ExtraBold" pitchFamily="34" charset="-120"/>
              </a:rPr>
              <a:t>КАТАЛОГ МЕРОПРИЯТИЙ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7987" y="1204218"/>
            <a:ext cx="7391215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141414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В коде создан массив </a:t>
            </a:r>
            <a:r>
              <a:rPr lang="en-US" sz="2000" b="1" dirty="0">
                <a:solidFill>
                  <a:srgbClr val="141414"/>
                </a:solidFill>
                <a:latin typeface="Geologica Bold" pitchFamily="34" charset="0"/>
                <a:ea typeface="Geologica Bold" pitchFamily="34" charset="-122"/>
                <a:cs typeface="Geologica Bold" pitchFamily="34" charset="-120"/>
              </a:rPr>
              <a:t>events</a:t>
            </a:r>
            <a:r>
              <a:rPr lang="en-US" sz="2000" dirty="0">
                <a:solidFill>
                  <a:srgbClr val="141414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, который содержит четыре мероприятия: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7987" y="2085280"/>
            <a:ext cx="7391215" cy="2095500"/>
          </a:xfrm>
          <a:prstGeom prst="roundRect">
            <a:avLst>
              <a:gd name="adj" fmla="val 14545"/>
            </a:avLst>
          </a:prstGeom>
          <a:solidFill>
            <a:srgbClr val="FFFBF2"/>
          </a:solidFill>
          <a:ln w="38099">
            <a:solidFill>
              <a:srgbClr val="141414"/>
            </a:solidFill>
            <a:prstDash val="solid"/>
          </a:ln>
          <a:effectLst>
            <a:outerShdw blurRad="127" dist="88900" dir="2700000" algn="bl" rotWithShape="0">
              <a:srgbClr val="141414">
                <a:alpha val="1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50879" y="2377380"/>
            <a:ext cx="6705432" cy="151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406400" indent="-406400" algn="l">
              <a:lnSpc>
                <a:spcPct val="108000"/>
              </a:lnSpc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Научная конференция.</a:t>
            </a:r>
            <a:endParaRPr lang="en-US" sz="2000" dirty="0"/>
          </a:p>
          <a:p>
            <a:pPr marL="406400" indent="-406400" algn="l">
              <a:lnSpc>
                <a:spcPct val="108000"/>
              </a:lnSpc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Мастер-класс по программированию.</a:t>
            </a:r>
            <a:endParaRPr lang="en-US" sz="2000" dirty="0"/>
          </a:p>
          <a:p>
            <a:pPr marL="406400" indent="-406400" algn="l">
              <a:lnSpc>
                <a:spcPct val="108000"/>
              </a:lnSpc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Фестиваль студенческого творчества.</a:t>
            </a:r>
            <a:endParaRPr lang="en-US" sz="2000" dirty="0"/>
          </a:p>
          <a:p>
            <a:pPr marL="406400" indent="-406400" algn="l">
              <a:lnSpc>
                <a:spcPct val="108000"/>
              </a:lnSpc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Университетский турнир.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7987" y="4417318"/>
            <a:ext cx="739121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141414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Для каждого события указаны название, категория, дата, место проведения, описание, вместимость и список участников.</a:t>
            </a:r>
            <a:endParaRPr lang="en-US" sz="20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7797" y="1143000"/>
            <a:ext cx="3428914" cy="4572000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216EDF5-CA41-4C38-9162-81726B86D730}"/>
              </a:ext>
            </a:extLst>
          </p:cNvPr>
          <p:cNvSpPr/>
          <p:nvPr/>
        </p:nvSpPr>
        <p:spPr>
          <a:xfrm>
            <a:off x="10964411" y="6509857"/>
            <a:ext cx="1227589" cy="348143"/>
          </a:xfrm>
          <a:prstGeom prst="rect">
            <a:avLst/>
          </a:prstGeom>
          <a:solidFill>
            <a:srgbClr val="FF5B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525145"/>
            <a:ext cx="11175720" cy="434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000" kern="100" spc="180" dirty="0">
                <a:solidFill>
                  <a:srgbClr val="141414"/>
                </a:solidFill>
                <a:latin typeface="Unbounded ExtraBold" pitchFamily="34" charset="0"/>
                <a:ea typeface="Unbounded ExtraBold" pitchFamily="34" charset="-122"/>
                <a:cs typeface="Unbounded ExtraBold" pitchFamily="34" charset="-120"/>
              </a:rPr>
              <a:t>ПОИСК И ФИЛЬТРАЦИЯ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7987" y="1477665"/>
            <a:ext cx="3521979" cy="3473450"/>
          </a:xfrm>
          <a:prstGeom prst="roundRect">
            <a:avLst>
              <a:gd name="adj" fmla="val 8775"/>
            </a:avLst>
          </a:prstGeom>
          <a:solidFill>
            <a:srgbClr val="FFFBF2"/>
          </a:solidFill>
          <a:ln w="38099">
            <a:solidFill>
              <a:srgbClr val="141414"/>
            </a:solidFill>
            <a:prstDash val="solid"/>
          </a:ln>
          <a:effectLst>
            <a:outerShdw blurRad="127" dist="88900" dir="2700000" algn="bl" rotWithShape="0">
              <a:srgbClr val="141414">
                <a:alpha val="10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5479" y="1795165"/>
            <a:ext cx="897709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6086" y="2150765"/>
            <a:ext cx="3445781" cy="1905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6" name="Text 4"/>
          <p:cNvSpPr/>
          <p:nvPr/>
        </p:nvSpPr>
        <p:spPr>
          <a:xfrm>
            <a:off x="825479" y="2330152"/>
            <a:ext cx="2886995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В приложении реализован поиск мероприятий по названию.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334759" y="1477665"/>
            <a:ext cx="3522078" cy="3473450"/>
          </a:xfrm>
          <a:prstGeom prst="roundRect">
            <a:avLst>
              <a:gd name="adj" fmla="val 8775"/>
            </a:avLst>
          </a:prstGeom>
          <a:solidFill>
            <a:srgbClr val="FFE03A"/>
          </a:solidFill>
          <a:ln w="38099">
            <a:solidFill>
              <a:srgbClr val="141414"/>
            </a:solidFill>
            <a:prstDash val="solid"/>
          </a:ln>
          <a:effectLst>
            <a:outerShdw blurRad="127" dist="88900" dir="2700000" algn="bl" rotWithShape="0">
              <a:srgbClr val="141414">
                <a:alpha val="10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52251" y="1795165"/>
            <a:ext cx="929061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372858" y="2150765"/>
            <a:ext cx="3445781" cy="1905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0" name="Text 8"/>
          <p:cNvSpPr/>
          <p:nvPr/>
        </p:nvSpPr>
        <p:spPr>
          <a:xfrm>
            <a:off x="4652251" y="2330152"/>
            <a:ext cx="2887094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Также доступны фильтры по категории и дате проведения.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161629" y="1477665"/>
            <a:ext cx="3522078" cy="3473450"/>
          </a:xfrm>
          <a:prstGeom prst="roundRect">
            <a:avLst>
              <a:gd name="adj" fmla="val 8775"/>
            </a:avLst>
          </a:prstGeom>
          <a:solidFill>
            <a:srgbClr val="1FCB9E"/>
          </a:solidFill>
          <a:ln w="38099">
            <a:solidFill>
              <a:srgbClr val="141414"/>
            </a:solidFill>
            <a:prstDash val="solid"/>
          </a:ln>
          <a:effectLst>
            <a:outerShdw blurRad="127" dist="88900" dir="2700000" algn="bl" rotWithShape="0">
              <a:srgbClr val="141414">
                <a:alpha val="10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479121" y="1795165"/>
            <a:ext cx="931542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03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199728" y="2150765"/>
            <a:ext cx="3445781" cy="1905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4" name="Text 12"/>
          <p:cNvSpPr/>
          <p:nvPr/>
        </p:nvSpPr>
        <p:spPr>
          <a:xfrm>
            <a:off x="8479121" y="2330152"/>
            <a:ext cx="2887094" cy="231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Для этого JavaScript получает значения полей ввода и использует метод </a:t>
            </a:r>
            <a:r>
              <a:rPr lang="en-US" sz="2000" b="1" dirty="0">
                <a:solidFill>
                  <a:srgbClr val="000000"/>
                </a:solidFill>
                <a:latin typeface="Geologica Bold" pitchFamily="34" charset="0"/>
                <a:ea typeface="Geologica Bold" pitchFamily="34" charset="-122"/>
                <a:cs typeface="Geologica Bold" pitchFamily="34" charset="-120"/>
              </a:rPr>
              <a:t>filter()</a:t>
            </a:r>
            <a:r>
              <a:rPr lang="en-US" sz="2000" dirty="0">
                <a:solidFill>
                  <a:srgbClr val="000000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, чтобы отобрать подходящие мероприятия.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07987" y="5486499"/>
            <a:ext cx="11175720" cy="863600"/>
          </a:xfrm>
          <a:prstGeom prst="roundRect">
            <a:avLst>
              <a:gd name="adj" fmla="val 35293"/>
            </a:avLst>
          </a:prstGeom>
          <a:solidFill>
            <a:srgbClr val="FFFBF2"/>
          </a:solidFill>
          <a:ln w="38099">
            <a:solidFill>
              <a:srgbClr val="141414"/>
            </a:solidFill>
            <a:prstDash val="solid"/>
          </a:ln>
          <a:effectLst>
            <a:outerShdw blurRad="127" dist="88900" dir="2700000" algn="bl" rotWithShape="0">
              <a:srgbClr val="141414">
                <a:alpha val="10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5479" y="5761137"/>
            <a:ext cx="1085822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Метод </a:t>
            </a:r>
            <a:r>
              <a:rPr lang="en-US" sz="2000" b="1" dirty="0">
                <a:solidFill>
                  <a:srgbClr val="000000"/>
                </a:solidFill>
                <a:latin typeface="Geologica Bold" pitchFamily="34" charset="0"/>
                <a:ea typeface="Geologica Bold" pitchFamily="34" charset="-122"/>
                <a:cs typeface="Geologica Bold" pitchFamily="34" charset="-120"/>
              </a:rPr>
              <a:t>render()</a:t>
            </a:r>
            <a:r>
              <a:rPr lang="en-US" sz="2000" dirty="0">
                <a:solidFill>
                  <a:srgbClr val="000000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 обновляет отображение каталога.</a:t>
            </a:r>
            <a:endParaRPr lang="en-US" sz="2000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4CFAC56-633C-4112-8A6E-39E7ECA8E396}"/>
              </a:ext>
            </a:extLst>
          </p:cNvPr>
          <p:cNvSpPr/>
          <p:nvPr/>
        </p:nvSpPr>
        <p:spPr>
          <a:xfrm>
            <a:off x="10964411" y="6509857"/>
            <a:ext cx="1227589" cy="348143"/>
          </a:xfrm>
          <a:prstGeom prst="rect">
            <a:avLst/>
          </a:prstGeom>
          <a:solidFill>
            <a:srgbClr val="FF5B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990" y="1143000"/>
            <a:ext cx="3428914" cy="4572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317892" y="525145"/>
            <a:ext cx="7365816" cy="868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000" kern="100" spc="180" dirty="0">
                <a:solidFill>
                  <a:srgbClr val="141414"/>
                </a:solidFill>
                <a:latin typeface="Unbounded ExtraBold" pitchFamily="34" charset="0"/>
                <a:ea typeface="Unbounded ExtraBold" pitchFamily="34" charset="-122"/>
                <a:cs typeface="Unbounded ExtraBold" pitchFamily="34" charset="-120"/>
              </a:rPr>
              <a:t>РЕГИСТРАЦИЯ УЧАСТНИКОВ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4317892" y="1638498"/>
            <a:ext cx="7365816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141414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Для регистрации создана HTML-форма с двумя полями: имя и электронная почта.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317892" y="2519561"/>
            <a:ext cx="7365816" cy="1625600"/>
          </a:xfrm>
          <a:prstGeom prst="roundRect">
            <a:avLst>
              <a:gd name="adj" fmla="val 18750"/>
            </a:avLst>
          </a:prstGeom>
          <a:solidFill>
            <a:srgbClr val="FFE03A"/>
          </a:solidFill>
          <a:ln w="38099">
            <a:solidFill>
              <a:srgbClr val="141414"/>
            </a:solidFill>
            <a:prstDash val="solid"/>
          </a:ln>
          <a:effectLst>
            <a:outerShdw blurRad="127" dist="88900" dir="2700000" algn="bl" rotWithShape="0">
              <a:srgbClr val="141414">
                <a:alpha val="10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635384" y="2844998"/>
            <a:ext cx="6730832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Пользователь сначала выбирает мероприятие, затем вводит данные и нажимает кнопку «Зарегистрироваться».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317892" y="4381698"/>
            <a:ext cx="7365816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141414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JavaScript обрабатывает отправку формы и добавляет участника в список мероприятия. После успешной регистрации выводится подтверждающее сообщение, а количество участников обновляется.</a:t>
            </a:r>
            <a:endParaRPr lang="en-US" sz="2000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FCF99BF-F0A6-4883-AA26-02B0628639E9}"/>
              </a:ext>
            </a:extLst>
          </p:cNvPr>
          <p:cNvSpPr/>
          <p:nvPr/>
        </p:nvSpPr>
        <p:spPr>
          <a:xfrm>
            <a:off x="10964411" y="6509857"/>
            <a:ext cx="1227589" cy="348143"/>
          </a:xfrm>
          <a:prstGeom prst="rect">
            <a:avLst/>
          </a:prstGeom>
          <a:solidFill>
            <a:srgbClr val="FF5B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525145"/>
            <a:ext cx="11175720" cy="434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000" kern="100" spc="180" dirty="0">
                <a:solidFill>
                  <a:srgbClr val="141414"/>
                </a:solidFill>
                <a:latin typeface="Unbounded ExtraBold" pitchFamily="34" charset="0"/>
                <a:ea typeface="Unbounded ExtraBold" pitchFamily="34" charset="-122"/>
                <a:cs typeface="Unbounded ExtraBold" pitchFamily="34" charset="-120"/>
              </a:rPr>
              <a:t>ПРОВЕРКА ВВОДА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7987" y="1204218"/>
            <a:ext cx="1168370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141414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В коде предусмотрена проверка введённых данных.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7987" y="2464197"/>
            <a:ext cx="4348451" cy="2617986"/>
          </a:xfrm>
          <a:prstGeom prst="roundRect">
            <a:avLst>
              <a:gd name="adj" fmla="val 11642"/>
            </a:avLst>
          </a:prstGeom>
          <a:solidFill>
            <a:srgbClr val="FFE03A"/>
          </a:solidFill>
          <a:ln w="38099">
            <a:solidFill>
              <a:srgbClr val="141414"/>
            </a:solidFill>
            <a:prstDash val="solid"/>
          </a:ln>
          <a:effectLst>
            <a:outerShdw blurRad="127" dist="88900" dir="2700000" algn="bl" rotWithShape="0">
              <a:srgbClr val="141414">
                <a:alpha val="1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50879" y="2812812"/>
            <a:ext cx="3662668" cy="792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Имя должно содержать от 2 до 60 символов.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50879" y="3756620"/>
            <a:ext cx="3662668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Электронная почта проверяется по формату адреса.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161131" y="2464197"/>
            <a:ext cx="6522577" cy="2617986"/>
          </a:xfrm>
          <a:prstGeom prst="roundRect">
            <a:avLst>
              <a:gd name="adj" fmla="val 11642"/>
            </a:avLst>
          </a:prstGeom>
          <a:solidFill>
            <a:srgbClr val="FFFBF2"/>
          </a:solidFill>
          <a:ln w="38099">
            <a:solidFill>
              <a:srgbClr val="141414"/>
            </a:solidFill>
            <a:prstDash val="solid"/>
          </a:ln>
          <a:effectLst>
            <a:outerShdw blurRad="127" dist="88900" dir="2700000" algn="bl" rotWithShape="0">
              <a:srgbClr val="141414">
                <a:alpha val="10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504022" y="2815034"/>
            <a:ext cx="5836794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Дополнительно система проверяет выбор мероприятия, предотвращает повторную регистрацию одного адреса на одно событие и не допускает превышения установленной вместимости.</a:t>
            </a:r>
            <a:endParaRPr lang="en-US" sz="2000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B30B5F4-D7E7-4AD2-912D-4E05B54F0D93}"/>
              </a:ext>
            </a:extLst>
          </p:cNvPr>
          <p:cNvSpPr/>
          <p:nvPr/>
        </p:nvSpPr>
        <p:spPr>
          <a:xfrm>
            <a:off x="10964411" y="6509857"/>
            <a:ext cx="1227589" cy="348143"/>
          </a:xfrm>
          <a:prstGeom prst="rect">
            <a:avLst/>
          </a:prstGeom>
          <a:solidFill>
            <a:srgbClr val="FF5B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474345"/>
            <a:ext cx="11175720" cy="868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000" kern="100" spc="180" dirty="0">
                <a:solidFill>
                  <a:srgbClr val="141414"/>
                </a:solidFill>
                <a:latin typeface="Unbounded ExtraBold" pitchFamily="34" charset="0"/>
                <a:ea typeface="Unbounded ExtraBold" pitchFamily="34" charset="-122"/>
                <a:cs typeface="Unbounded ExtraBold" pitchFamily="34" charset="-120"/>
              </a:rPr>
              <a:t>ОСНОВНЫЕ ФУНКЦИОНАЛЬНЫЕ ВОЗМОЖНОСТИ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7987" y="1587698"/>
            <a:ext cx="1168370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141414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В разработанном приложении реализованы следующие функции: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7987" y="2138561"/>
            <a:ext cx="5435464" cy="723900"/>
          </a:xfrm>
          <a:prstGeom prst="roundRect">
            <a:avLst>
              <a:gd name="adj" fmla="val 42104"/>
            </a:avLst>
          </a:prstGeom>
          <a:solidFill>
            <a:srgbClr val="FFFBF2"/>
          </a:solidFill>
          <a:ln w="38099">
            <a:solidFill>
              <a:srgbClr val="141414"/>
            </a:solidFill>
            <a:prstDash val="solid"/>
          </a:ln>
          <a:effectLst>
            <a:outerShdw blurRad="127" dist="88900" dir="2700000" algn="bl" rotWithShape="0">
              <a:srgbClr val="141414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0080" y="2278261"/>
            <a:ext cx="444489" cy="444500"/>
          </a:xfrm>
          <a:prstGeom prst="roundRect">
            <a:avLst>
              <a:gd name="adj" fmla="val 17143"/>
            </a:avLst>
          </a:prstGeom>
          <a:solidFill>
            <a:srgbClr val="141414"/>
          </a:solidFill>
          <a:ln w="31749">
            <a:solidFill>
              <a:srgbClr val="CCCCCC"/>
            </a:solidFill>
            <a:prstDash val="solid"/>
          </a:ln>
          <a:effectLst>
            <a:outerShdw blurRad="127" dist="39370" dir="2700000" algn="bl" rotWithShape="0">
              <a:srgbClr val="CCCCCC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4977" y="2373511"/>
            <a:ext cx="72418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98563" y="2343348"/>
            <a:ext cx="4444889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Просмотр списка мероприятий.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248244" y="2138561"/>
            <a:ext cx="5435464" cy="723900"/>
          </a:xfrm>
          <a:prstGeom prst="roundRect">
            <a:avLst>
              <a:gd name="adj" fmla="val 42104"/>
            </a:avLst>
          </a:prstGeom>
          <a:solidFill>
            <a:srgbClr val="FFFBF2"/>
          </a:solidFill>
          <a:ln w="38099">
            <a:solidFill>
              <a:srgbClr val="141414"/>
            </a:solidFill>
            <a:prstDash val="solid"/>
          </a:ln>
          <a:effectLst>
            <a:outerShdw blurRad="127" dist="88900" dir="2700000" algn="bl" rotWithShape="0">
              <a:srgbClr val="141414">
                <a:alpha val="10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40336" y="2278261"/>
            <a:ext cx="468499" cy="444500"/>
          </a:xfrm>
          <a:prstGeom prst="roundRect">
            <a:avLst>
              <a:gd name="adj" fmla="val 17142"/>
            </a:avLst>
          </a:prstGeom>
          <a:solidFill>
            <a:srgbClr val="141414"/>
          </a:solidFill>
          <a:ln w="31749">
            <a:solidFill>
              <a:srgbClr val="CCCCCC"/>
            </a:solidFill>
            <a:prstDash val="solid"/>
          </a:ln>
          <a:effectLst>
            <a:outerShdw blurRad="127" dist="39370" dir="2700000" algn="bl" rotWithShape="0">
              <a:srgbClr val="CCCCCC">
                <a:alpha val="10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99082" y="2373511"/>
            <a:ext cx="760592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262829" y="2343348"/>
            <a:ext cx="442087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Поиск по названию.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07987" y="3167261"/>
            <a:ext cx="5435464" cy="723900"/>
          </a:xfrm>
          <a:prstGeom prst="roundRect">
            <a:avLst>
              <a:gd name="adj" fmla="val 42104"/>
            </a:avLst>
          </a:prstGeom>
          <a:solidFill>
            <a:srgbClr val="FFE03A"/>
          </a:solidFill>
          <a:ln w="38099">
            <a:solidFill>
              <a:srgbClr val="141414"/>
            </a:solidFill>
            <a:prstDash val="solid"/>
          </a:ln>
          <a:effectLst>
            <a:outerShdw blurRad="127" dist="88900" dir="2700000" algn="bl" rotWithShape="0">
              <a:srgbClr val="141414">
                <a:alpha val="10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0080" y="3306961"/>
            <a:ext cx="466019" cy="444500"/>
          </a:xfrm>
          <a:prstGeom prst="roundRect">
            <a:avLst>
              <a:gd name="adj" fmla="val 17142"/>
            </a:avLst>
          </a:prstGeom>
          <a:solidFill>
            <a:srgbClr val="141414"/>
          </a:solidFill>
          <a:ln w="31749">
            <a:solidFill>
              <a:srgbClr val="CCCCCC"/>
            </a:solidFill>
            <a:prstDash val="solid"/>
          </a:ln>
          <a:effectLst>
            <a:outerShdw blurRad="127" dist="39370" dir="2700000" algn="bl" rotWithShape="0">
              <a:srgbClr val="CCCCCC">
                <a:alpha val="10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58826" y="3402211"/>
            <a:ext cx="758112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20092" y="3372048"/>
            <a:ext cx="4423359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Фильтрация по категории.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48244" y="3167261"/>
            <a:ext cx="5435464" cy="723900"/>
          </a:xfrm>
          <a:prstGeom prst="roundRect">
            <a:avLst>
              <a:gd name="adj" fmla="val 42104"/>
            </a:avLst>
          </a:prstGeom>
          <a:solidFill>
            <a:srgbClr val="FFE03A"/>
          </a:solidFill>
          <a:ln w="38099">
            <a:solidFill>
              <a:srgbClr val="141414"/>
            </a:solidFill>
            <a:prstDash val="solid"/>
          </a:ln>
          <a:effectLst>
            <a:outerShdw blurRad="127" dist="88900" dir="2700000" algn="bl" rotWithShape="0">
              <a:srgbClr val="141414">
                <a:alpha val="10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40336" y="3306961"/>
            <a:ext cx="470484" cy="444500"/>
          </a:xfrm>
          <a:prstGeom prst="roundRect">
            <a:avLst>
              <a:gd name="adj" fmla="val 17142"/>
            </a:avLst>
          </a:prstGeom>
          <a:solidFill>
            <a:srgbClr val="141414"/>
          </a:solidFill>
          <a:ln w="31749">
            <a:solidFill>
              <a:srgbClr val="CCCCCC"/>
            </a:solidFill>
            <a:prstDash val="solid"/>
          </a:ln>
          <a:effectLst>
            <a:outerShdw blurRad="127" dist="39370" dir="2700000" algn="bl" rotWithShape="0">
              <a:srgbClr val="CCCCCC">
                <a:alpha val="10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99082" y="3402211"/>
            <a:ext cx="762576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264814" y="3372048"/>
            <a:ext cx="4418894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Фильтрация по дате.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07987" y="4195961"/>
            <a:ext cx="5435464" cy="723900"/>
          </a:xfrm>
          <a:prstGeom prst="roundRect">
            <a:avLst>
              <a:gd name="adj" fmla="val 42104"/>
            </a:avLst>
          </a:prstGeom>
          <a:solidFill>
            <a:srgbClr val="1FCB9E"/>
          </a:solidFill>
          <a:ln w="38099">
            <a:solidFill>
              <a:srgbClr val="141414"/>
            </a:solidFill>
            <a:prstDash val="solid"/>
          </a:ln>
          <a:effectLst>
            <a:outerShdw blurRad="127" dist="88900" dir="2700000" algn="bl" rotWithShape="0">
              <a:srgbClr val="141414">
                <a:alpha val="10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00080" y="4335661"/>
            <a:ext cx="466912" cy="444500"/>
          </a:xfrm>
          <a:prstGeom prst="roundRect">
            <a:avLst>
              <a:gd name="adj" fmla="val 17142"/>
            </a:avLst>
          </a:prstGeom>
          <a:solidFill>
            <a:srgbClr val="141414"/>
          </a:solidFill>
          <a:ln w="31749">
            <a:solidFill>
              <a:srgbClr val="CCCCCC"/>
            </a:solidFill>
            <a:prstDash val="solid"/>
          </a:ln>
          <a:effectLst>
            <a:outerShdw blurRad="127" dist="39370" dir="2700000" algn="bl" rotWithShape="0">
              <a:srgbClr val="CCCCCC">
                <a:alpha val="10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58826" y="4430911"/>
            <a:ext cx="759004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520985" y="4400748"/>
            <a:ext cx="442246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Регистрация участников.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248244" y="4195961"/>
            <a:ext cx="5435464" cy="723900"/>
          </a:xfrm>
          <a:prstGeom prst="roundRect">
            <a:avLst>
              <a:gd name="adj" fmla="val 42104"/>
            </a:avLst>
          </a:prstGeom>
          <a:solidFill>
            <a:srgbClr val="1FCB9E"/>
          </a:solidFill>
          <a:ln w="38099">
            <a:solidFill>
              <a:srgbClr val="141414"/>
            </a:solidFill>
            <a:prstDash val="solid"/>
          </a:ln>
          <a:effectLst>
            <a:outerShdw blurRad="127" dist="88900" dir="2700000" algn="bl" rotWithShape="0">
              <a:srgbClr val="141414">
                <a:alpha val="10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40336" y="4335661"/>
            <a:ext cx="481497" cy="444500"/>
          </a:xfrm>
          <a:prstGeom prst="roundRect">
            <a:avLst>
              <a:gd name="adj" fmla="val 17142"/>
            </a:avLst>
          </a:prstGeom>
          <a:solidFill>
            <a:srgbClr val="141414"/>
          </a:solidFill>
          <a:ln w="31749">
            <a:solidFill>
              <a:srgbClr val="CCCCCC"/>
            </a:solidFill>
            <a:prstDash val="solid"/>
          </a:ln>
          <a:effectLst>
            <a:outerShdw blurRad="127" dist="39370" dir="2700000" algn="bl" rotWithShape="0">
              <a:srgbClr val="CCCCCC">
                <a:alpha val="10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699082" y="4430911"/>
            <a:ext cx="773589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6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275827" y="4400748"/>
            <a:ext cx="4407881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Проверка введённых данных.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507987" y="5224661"/>
            <a:ext cx="5435464" cy="996950"/>
          </a:xfrm>
          <a:prstGeom prst="roundRect">
            <a:avLst>
              <a:gd name="adj" fmla="val 30573"/>
            </a:avLst>
          </a:prstGeom>
          <a:solidFill>
            <a:srgbClr val="FF8CC6"/>
          </a:solidFill>
          <a:ln w="38099">
            <a:solidFill>
              <a:srgbClr val="141414"/>
            </a:solidFill>
            <a:prstDash val="solid"/>
          </a:ln>
          <a:effectLst>
            <a:outerShdw blurRad="127" dist="88900" dir="2700000" algn="bl" rotWithShape="0">
              <a:srgbClr val="141414">
                <a:alpha val="10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00080" y="5364361"/>
            <a:ext cx="461058" cy="444500"/>
          </a:xfrm>
          <a:prstGeom prst="roundRect">
            <a:avLst>
              <a:gd name="adj" fmla="val 17142"/>
            </a:avLst>
          </a:prstGeom>
          <a:solidFill>
            <a:srgbClr val="141414"/>
          </a:solidFill>
          <a:ln w="31749">
            <a:solidFill>
              <a:srgbClr val="CCCCCC"/>
            </a:solidFill>
            <a:prstDash val="solid"/>
          </a:ln>
          <a:effectLst>
            <a:outerShdw blurRad="127" dist="39370" dir="2700000" algn="bl" rotWithShape="0">
              <a:srgbClr val="CCCCCC">
                <a:alpha val="10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58826" y="5459611"/>
            <a:ext cx="753151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7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515132" y="5429448"/>
            <a:ext cx="4136227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Защита от повторной регистрации.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6248244" y="5224661"/>
            <a:ext cx="5435464" cy="996950"/>
          </a:xfrm>
          <a:prstGeom prst="roundRect">
            <a:avLst>
              <a:gd name="adj" fmla="val 30573"/>
            </a:avLst>
          </a:prstGeom>
          <a:solidFill>
            <a:srgbClr val="FF8CC6"/>
          </a:solidFill>
          <a:ln w="38099">
            <a:solidFill>
              <a:srgbClr val="141414"/>
            </a:solidFill>
            <a:prstDash val="solid"/>
          </a:ln>
          <a:effectLst>
            <a:outerShdw blurRad="127" dist="88900" dir="2700000" algn="bl" rotWithShape="0">
              <a:srgbClr val="141414">
                <a:alpha val="10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540336" y="5364361"/>
            <a:ext cx="473460" cy="444500"/>
          </a:xfrm>
          <a:prstGeom prst="roundRect">
            <a:avLst>
              <a:gd name="adj" fmla="val 17142"/>
            </a:avLst>
          </a:prstGeom>
          <a:solidFill>
            <a:srgbClr val="141414"/>
          </a:solidFill>
          <a:ln w="31749">
            <a:solidFill>
              <a:srgbClr val="CCCCCC"/>
            </a:solidFill>
            <a:prstDash val="solid"/>
          </a:ln>
          <a:effectLst>
            <a:outerShdw blurRad="127" dist="39370" dir="2700000" algn="bl" rotWithShape="0">
              <a:srgbClr val="CCCCCC">
                <a:alpha val="10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699082" y="5459611"/>
            <a:ext cx="765553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8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267790" y="5429448"/>
            <a:ext cx="4123825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Контроль количества участников.</a:t>
            </a:r>
            <a:endParaRPr lang="en-US" sz="2000" dirty="0"/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9E9F15DD-D2ED-4FA1-AC93-9EE677F15AF3}"/>
              </a:ext>
            </a:extLst>
          </p:cNvPr>
          <p:cNvSpPr/>
          <p:nvPr/>
        </p:nvSpPr>
        <p:spPr>
          <a:xfrm>
            <a:off x="10964411" y="6509857"/>
            <a:ext cx="1227589" cy="348143"/>
          </a:xfrm>
          <a:prstGeom prst="rect">
            <a:avLst/>
          </a:prstGeom>
          <a:solidFill>
            <a:srgbClr val="FF5B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423545"/>
            <a:ext cx="11175720" cy="434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000" kern="100" spc="180" dirty="0">
                <a:solidFill>
                  <a:srgbClr val="141414"/>
                </a:solidFill>
                <a:latin typeface="Unbounded ExtraBold" pitchFamily="34" charset="0"/>
                <a:ea typeface="Unbounded ExtraBold" pitchFamily="34" charset="-122"/>
                <a:cs typeface="Unbounded ExtraBold" pitchFamily="34" charset="-120"/>
              </a:rPr>
              <a:t>ТЕСТИРОВАНИЕ ПРИЛОЖЕНИЯ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7987" y="1102618"/>
            <a:ext cx="1168370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141414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Для проверки работы приложения предусмотрены следующие тесты: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7987" y="1653480"/>
            <a:ext cx="5435464" cy="3035300"/>
          </a:xfrm>
          <a:prstGeom prst="roundRect">
            <a:avLst>
              <a:gd name="adj" fmla="val 10042"/>
            </a:avLst>
          </a:prstGeom>
          <a:solidFill>
            <a:srgbClr val="FFFBF2"/>
          </a:solidFill>
          <a:ln w="38099">
            <a:solidFill>
              <a:srgbClr val="141414"/>
            </a:solidFill>
            <a:prstDash val="solid"/>
          </a:ln>
          <a:effectLst>
            <a:outerShdw blurRad="127" dist="88900" dir="2700000" algn="bl" rotWithShape="0">
              <a:srgbClr val="141414">
                <a:alpha val="1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5479" y="1920180"/>
            <a:ext cx="4800480" cy="2171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406400" indent="-406400" algn="l">
              <a:lnSpc>
                <a:spcPct val="108000"/>
              </a:lnSpc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Открытие страницы и отображение четырёх мероприятий.</a:t>
            </a:r>
            <a:endParaRPr lang="en-US" sz="2000" dirty="0"/>
          </a:p>
          <a:p>
            <a:pPr marL="406400" indent="-406400" algn="l">
              <a:lnSpc>
                <a:spcPct val="108000"/>
              </a:lnSpc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Поиск мероприятия по названию.</a:t>
            </a:r>
            <a:endParaRPr lang="en-US" sz="2000" dirty="0"/>
          </a:p>
          <a:p>
            <a:pPr marL="406400" indent="-406400" algn="l">
              <a:lnSpc>
                <a:spcPct val="108000"/>
              </a:lnSpc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Фильтрация по категории и дате.</a:t>
            </a:r>
            <a:endParaRPr lang="en-US" sz="2000" dirty="0"/>
          </a:p>
          <a:p>
            <a:pPr marL="406400" indent="-406400" algn="l">
              <a:lnSpc>
                <a:spcPct val="108000"/>
              </a:lnSpc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Успешная регистрация участника.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248244" y="1653480"/>
            <a:ext cx="5435464" cy="3035300"/>
          </a:xfrm>
          <a:prstGeom prst="roundRect">
            <a:avLst>
              <a:gd name="adj" fmla="val 10042"/>
            </a:avLst>
          </a:prstGeom>
          <a:solidFill>
            <a:srgbClr val="FFE03A"/>
          </a:solidFill>
          <a:ln w="38099">
            <a:solidFill>
              <a:srgbClr val="141414"/>
            </a:solidFill>
            <a:prstDash val="solid"/>
          </a:ln>
          <a:effectLst>
            <a:outerShdw blurRad="127" dist="88900" dir="2700000" algn="bl" rotWithShape="0">
              <a:srgbClr val="141414">
                <a:alpha val="10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65736" y="1920180"/>
            <a:ext cx="4800480" cy="2501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406400" indent="-406400" algn="l">
              <a:lnSpc>
                <a:spcPct val="108000"/>
              </a:lnSpc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Ввод некорректного email.</a:t>
            </a:r>
            <a:endParaRPr lang="en-US" sz="2000" dirty="0"/>
          </a:p>
          <a:p>
            <a:pPr marL="406400" indent="-406400" algn="l">
              <a:lnSpc>
                <a:spcPct val="108000"/>
              </a:lnSpc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Повторная регистрация с одним адресом.</a:t>
            </a:r>
            <a:endParaRPr lang="en-US" sz="2000" dirty="0"/>
          </a:p>
          <a:p>
            <a:pPr marL="406400" indent="-406400" algn="l">
              <a:lnSpc>
                <a:spcPct val="108000"/>
              </a:lnSpc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Попытка регистрации без выбора мероприятия.</a:t>
            </a:r>
            <a:endParaRPr lang="en-US" sz="2000" dirty="0"/>
          </a:p>
          <a:p>
            <a:pPr marL="406400" indent="-406400" algn="l">
              <a:lnSpc>
                <a:spcPct val="108000"/>
              </a:lnSpc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Проверка ограничения количества участников.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7987" y="4925318"/>
            <a:ext cx="1117572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141414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Ожидается, что приложение корректно обрабатывает каждую ситуацию. Фактические результаты фиксируются после выполнения тестов в браузере.</a:t>
            </a:r>
            <a:endParaRPr lang="en-US" sz="2000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32060BA-118B-40F9-9CFF-0416AB26AE7B}"/>
              </a:ext>
            </a:extLst>
          </p:cNvPr>
          <p:cNvSpPr/>
          <p:nvPr/>
        </p:nvSpPr>
        <p:spPr>
          <a:xfrm>
            <a:off x="10964411" y="6509857"/>
            <a:ext cx="1227589" cy="348143"/>
          </a:xfrm>
          <a:prstGeom prst="rect">
            <a:avLst/>
          </a:prstGeom>
          <a:solidFill>
            <a:srgbClr val="FF5B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330516"/>
            <a:ext cx="7797605" cy="434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000" kern="100" spc="180" dirty="0">
                <a:solidFill>
                  <a:srgbClr val="141414"/>
                </a:solidFill>
                <a:latin typeface="Unbounded ExtraBold" pitchFamily="34" charset="0"/>
                <a:ea typeface="Unbounded ExtraBold" pitchFamily="34" charset="-122"/>
                <a:cs typeface="Unbounded ExtraBold" pitchFamily="34" charset="-120"/>
              </a:rPr>
              <a:t>РЕЗУЛЬТАТ И ВЫВОД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7987" y="1120080"/>
            <a:ext cx="7797605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spcAft>
                <a:spcPts val="1750"/>
              </a:spcAft>
              <a:buNone/>
            </a:pPr>
            <a:r>
              <a:rPr lang="en-US" sz="2000" dirty="0">
                <a:solidFill>
                  <a:srgbClr val="141414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В результате создан веб-прототип каталога мероприятий университета с помощью HTML, CSS и JavaScript.</a:t>
            </a:r>
            <a:endParaRPr lang="en-US" sz="20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141414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Приложение позволяет просматривать события, искать их по названию, фильтровать по категории и дате, а также регистрировать участников с проверкой данных.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7987" y="3228280"/>
            <a:ext cx="7797605" cy="1854200"/>
          </a:xfrm>
          <a:prstGeom prst="roundRect">
            <a:avLst>
              <a:gd name="adj" fmla="val 16438"/>
            </a:avLst>
          </a:prstGeom>
          <a:solidFill>
            <a:srgbClr val="FFFBF2"/>
          </a:solidFill>
          <a:ln w="38099">
            <a:solidFill>
              <a:srgbClr val="141414"/>
            </a:solidFill>
            <a:prstDash val="solid"/>
          </a:ln>
          <a:effectLst>
            <a:outerShdw blurRad="127" dist="88900" dir="2700000" algn="bl" rotWithShape="0">
              <a:srgbClr val="141414">
                <a:alpha val="1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5479" y="3502918"/>
            <a:ext cx="7162621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Данные хранятся в памяти страницы и сбрасываются при перезагрузке. В дальнейшем можно подключить базу данных и сервер для постоянного хранения информации.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7987" y="5319018"/>
            <a:ext cx="779760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141414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Таким образом, реализованы основные функции, необходимые для демонстрации работы каталога университетских мероприятий.</a:t>
            </a:r>
            <a:endParaRPr lang="en-US" sz="20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187" y="1354634"/>
            <a:ext cx="3111422" cy="4148634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4D00B8F-2DA0-4B87-89AD-B93DAD4FF01A}"/>
              </a:ext>
            </a:extLst>
          </p:cNvPr>
          <p:cNvSpPr/>
          <p:nvPr/>
        </p:nvSpPr>
        <p:spPr>
          <a:xfrm>
            <a:off x="10964411" y="6509857"/>
            <a:ext cx="1227589" cy="348143"/>
          </a:xfrm>
          <a:prstGeom prst="rect">
            <a:avLst/>
          </a:prstGeom>
          <a:solidFill>
            <a:srgbClr val="FF5B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FF0F118-9629-4C50-8AC1-EA43C2489C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83224"/>
            <a:ext cx="12192000" cy="6037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3367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448945"/>
            <a:ext cx="7797605" cy="434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000" kern="100" spc="180" dirty="0">
                <a:solidFill>
                  <a:srgbClr val="141414"/>
                </a:solidFill>
                <a:latin typeface="Unbounded ExtraBold" pitchFamily="34" charset="0"/>
                <a:ea typeface="Unbounded ExtraBold" pitchFamily="34" charset="-122"/>
                <a:cs typeface="Unbounded ExtraBold" pitchFamily="34" charset="-120"/>
              </a:rPr>
              <a:t>РЕЗУЛЬТАТ И ВЫВОД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7987" y="1120080"/>
            <a:ext cx="7797605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spcAft>
                <a:spcPts val="1750"/>
              </a:spcAft>
              <a:buNone/>
            </a:pPr>
            <a:r>
              <a:rPr lang="en-US" sz="2000" dirty="0">
                <a:solidFill>
                  <a:srgbClr val="141414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В результате создан веб-прототип каталога мероприятий университета с помощью HTML, CSS и JavaScript.</a:t>
            </a:r>
            <a:endParaRPr lang="en-US" sz="20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141414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Приложение позволяет просматривать события, искать их по названию, фильтровать по категории и дате, а также регистрировать участников с проверкой данных.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7987" y="3228280"/>
            <a:ext cx="7797605" cy="1854200"/>
          </a:xfrm>
          <a:prstGeom prst="roundRect">
            <a:avLst>
              <a:gd name="adj" fmla="val 16438"/>
            </a:avLst>
          </a:prstGeom>
          <a:solidFill>
            <a:srgbClr val="FFFBF2"/>
          </a:solidFill>
          <a:ln w="38099">
            <a:solidFill>
              <a:srgbClr val="141414"/>
            </a:solidFill>
            <a:prstDash val="solid"/>
          </a:ln>
          <a:effectLst>
            <a:outerShdw blurRad="127" dist="88900" dir="2700000" algn="bl" rotWithShape="0">
              <a:srgbClr val="141414">
                <a:alpha val="1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5479" y="3502918"/>
            <a:ext cx="7162621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Данные хранятся в памяти страницы и сбрасываются при перезагрузке. В дальнейшем можно подключить базу данных и сервер для постоянного хранения информации.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7987" y="5319018"/>
            <a:ext cx="779760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141414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Таким образом, реализованы основные функции, необходимые для демонстрации работы каталога университетских мероприятий.</a:t>
            </a:r>
            <a:endParaRPr lang="en-US" sz="20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187" y="1354634"/>
            <a:ext cx="3111422" cy="4148634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4D00B8F-2DA0-4B87-89AD-B93DAD4FF01A}"/>
              </a:ext>
            </a:extLst>
          </p:cNvPr>
          <p:cNvSpPr/>
          <p:nvPr/>
        </p:nvSpPr>
        <p:spPr>
          <a:xfrm>
            <a:off x="10964411" y="6509857"/>
            <a:ext cx="1227589" cy="348143"/>
          </a:xfrm>
          <a:prstGeom prst="rect">
            <a:avLst/>
          </a:prstGeom>
          <a:solidFill>
            <a:srgbClr val="FF5B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581</Words>
  <Application>Microsoft Office PowerPoint</Application>
  <PresentationFormat>Широкоэкранный</PresentationFormat>
  <Paragraphs>89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8" baseType="lpstr">
      <vt:lpstr>Arial</vt:lpstr>
      <vt:lpstr>Geologica</vt:lpstr>
      <vt:lpstr>Geologica Bold</vt:lpstr>
      <vt:lpstr>Unbounded ExtraBold</vt:lpstr>
      <vt:lpstr>Calibri</vt:lpstr>
      <vt:lpstr>Geologica SemiBold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Компьютер 3</dc:creator>
  <cp:lastModifiedBy>Компьютер 3</cp:lastModifiedBy>
  <cp:revision>3</cp:revision>
  <dcterms:created xsi:type="dcterms:W3CDTF">2026-10-21T06:43:50Z</dcterms:created>
  <dcterms:modified xsi:type="dcterms:W3CDTF">2026-10-21T06:47:06Z</dcterms:modified>
</cp:coreProperties>
</file>